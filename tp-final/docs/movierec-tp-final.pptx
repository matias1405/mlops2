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B08E845-D4A4-4FA1-B4BC-C6304DD6624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movierec resuelve el cold start de un usuario nuevo: con 5 películas elegidas devuelve 12 recomendaciones explicadas. Lo importante del TP es la plataforma que lo entrena, versiona y despliega.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D9AAB0-D8EF-49B8-A28B-E45626F64C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El onboarding pide 5 películas de un pool popular para que el usuario reconozca lo que ve. El modelo no necesita interacciones: trabaja sobre el texto de cada película.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61644C-F49A-41A6-8E0F-38FEF2229F9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Cada tema de la materia tiene un lugar concreto en el código. GraphQL y streaming se evaluaron y quedaron fuera: no había un caso de uso real.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D95BC9-D5BF-4D83-84C6-2A32F01521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DEV y PROD salen de la misma definición de compose con distinto env file: lo que se prueba en DEV es lo que llega a PROD. DEV escucha solo en localhost y usa el realm del equipo. El gateway no llega a MLflow ni a Airflow por diseño de redes.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7719E9-AA31-4366-B850-EF43FE8B8C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download_tmdb deja el CSV en bronze una sola vez. ingest_tmdb arma silver y los dos gold desde bronze. El modelo entrena con muchas más películas de las que la plataforma muestra.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216ADE-1627-4380-9427-715E60A6933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Las cabezas solo sirven para entrenar. PyTorch CPU en un venv aparte de Airflow, con ExternalPythonOperator. Se registran dos modelos: movierec (el bundle de serving) y movierec-encoder.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DB7DDF-B4BE-4DCA-AF55-DF972A96CB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Promediar embeddings de películas muy distintas da recomendaciones genéricas. Por semilla, cada elegida compite con sus vecinos y la explicación sale directa, en el campo because_of del proto. La red no corre en serving.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C73BF9-63BE-48D3-B6C3-7E265C97318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Recorrido en vivo: login en PROD con client_user, elegir 5, ver las 12 con su porqué. En DEV un usuario final no entra. Los pósters se bajan de TMDB la primera vez y quedan en MinIO.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B8669E-6A50-4C91-AE60-DEB7597B0C9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Data scientist entrena, ML engineer promueve y revierte. Airflow no tiene acceso al socket de Docker: las imágenes se publican con make.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D307AB-293D-4342-A3E3-B30DD3A57C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El tag gate de cada versión dice si pasó y por qué.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5ABB03-1B62-4402-80D7-A5B69D17A1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Las imágenes de la app no se construyen si un test falla, y pasan trivy sin vulnerabilidades CRITICAL con fix disponible. Lo que queda en Airflow y MLflow se cierra migrando a sus versiones 3.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C5231E-840B-422B-8255-1CF136F0B3F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Trabajo individual: los roles son genéricos y cada uno tiene un usuario demo. Los usuarios finales existen solo en Keycloak.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648753-CD5B-4975-8F32-38BB8FA134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El repositorio tiene el README con instalación y recorrido de la demo, el catálogo de datos, los roles y la seguridad.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9EF1E5-14B1-48A0-BE8C-04B48601D8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380DFF3-4EAB-4497-8B0D-96DF1E7D6F79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7B8ED24-7AC9-42EE-8618-391241A97551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DE634D4-5F77-46CA-A5E5-A2AA3502E177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2E3EC74-C364-431E-951D-53AE3B1F564C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CB82A80-0254-4CD4-978D-B7FBF679E88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5F379E3-E4BC-4004-A64E-7B8DC13D9D51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1685CBA-CFD9-43C6-B3E6-81E6D3ECB4DA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EE25F4A-DE6E-4862-AA9E-A3AC5BEE61C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A09B6AA-8942-43B2-BF38-A2E918253808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FFCBE4C-567D-45C2-9E79-60472BB7EDDA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75BA4C1-6CF2-4B90-8C84-A261634C04A4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692B5C1-0590-4C7C-90D7-283B21AE42C8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F5F952-566B-45EB-923E-C678E3FDBFD4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D37ECC-E352-44AB-8F35-C71D92A04C30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250A47-915D-4679-958C-85FF007E904A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91D0EF-31C5-4DF3-ABB3-5CA365929358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601AD8-4778-416C-84BB-459D0EE8680C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DFE330-5C6B-48AC-9417-5A49A3E9272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FF81F2-E19D-4E41-9AA9-5B15D4E6024C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81F49A-2E60-4AEE-81FF-10E628F0ACDD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70E234-DFFF-4C8C-839B-DDCC38735242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DB1A0D-94AB-4CBC-ADE5-93E6ACA0DFCC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EC046D-54F7-4EB8-82DC-4F4663D4EFE4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AEF85B-3E1A-4A3B-B4BA-A89C96CAAA3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title </a:t>
            </a:r>
            <a:r>
              <a:rPr b="0" lang="en-US" sz="4400" spc="-1" strike="noStrike">
                <a:latin typeface="Arial"/>
              </a:rPr>
              <a:t>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1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A24EFD-A126-4F1A-90ED-369D19A48340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title </a:t>
            </a:r>
            <a:r>
              <a:rPr b="0" lang="en-US" sz="4400" spc="-1" strike="noStrike">
                <a:latin typeface="Arial"/>
              </a:rPr>
              <a:t>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Num" idx="2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8e9aa8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8584D6-A987-47FC-B63F-9142887D5ED2}" type="slidenum">
              <a:rPr b="0" lang="en-US" sz="1100" spc="-1" strike="noStrike">
                <a:solidFill>
                  <a:srgbClr val="8e9aa8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"/>
          <p:cNvSpPr/>
          <p:nvPr/>
        </p:nvSpPr>
        <p:spPr>
          <a:xfrm>
            <a:off x="41148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2"/>
          <p:cNvSpPr/>
          <p:nvPr/>
        </p:nvSpPr>
        <p:spPr>
          <a:xfrm>
            <a:off x="82296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3"/>
          <p:cNvSpPr/>
          <p:nvPr/>
        </p:nvSpPr>
        <p:spPr>
          <a:xfrm>
            <a:off x="123444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4"/>
          <p:cNvSpPr/>
          <p:nvPr/>
        </p:nvSpPr>
        <p:spPr>
          <a:xfrm>
            <a:off x="164592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5"/>
          <p:cNvSpPr/>
          <p:nvPr/>
        </p:nvSpPr>
        <p:spPr>
          <a:xfrm>
            <a:off x="205740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6"/>
          <p:cNvSpPr/>
          <p:nvPr/>
        </p:nvSpPr>
        <p:spPr>
          <a:xfrm>
            <a:off x="246888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7"/>
          <p:cNvSpPr/>
          <p:nvPr/>
        </p:nvSpPr>
        <p:spPr>
          <a:xfrm>
            <a:off x="288036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8"/>
          <p:cNvSpPr/>
          <p:nvPr/>
        </p:nvSpPr>
        <p:spPr>
          <a:xfrm>
            <a:off x="329184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Shape 9"/>
          <p:cNvSpPr/>
          <p:nvPr/>
        </p:nvSpPr>
        <p:spPr>
          <a:xfrm>
            <a:off x="370332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10"/>
          <p:cNvSpPr/>
          <p:nvPr/>
        </p:nvSpPr>
        <p:spPr>
          <a:xfrm>
            <a:off x="411480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11"/>
          <p:cNvSpPr/>
          <p:nvPr/>
        </p:nvSpPr>
        <p:spPr>
          <a:xfrm>
            <a:off x="452628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2"/>
          <p:cNvSpPr/>
          <p:nvPr/>
        </p:nvSpPr>
        <p:spPr>
          <a:xfrm>
            <a:off x="493776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13"/>
          <p:cNvSpPr/>
          <p:nvPr/>
        </p:nvSpPr>
        <p:spPr>
          <a:xfrm>
            <a:off x="534924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Shape 14"/>
          <p:cNvSpPr/>
          <p:nvPr/>
        </p:nvSpPr>
        <p:spPr>
          <a:xfrm>
            <a:off x="576072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Shape 15"/>
          <p:cNvSpPr/>
          <p:nvPr/>
        </p:nvSpPr>
        <p:spPr>
          <a:xfrm>
            <a:off x="617220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16"/>
          <p:cNvSpPr/>
          <p:nvPr/>
        </p:nvSpPr>
        <p:spPr>
          <a:xfrm>
            <a:off x="658368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Shape 17"/>
          <p:cNvSpPr/>
          <p:nvPr/>
        </p:nvSpPr>
        <p:spPr>
          <a:xfrm>
            <a:off x="699516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8"/>
          <p:cNvSpPr/>
          <p:nvPr/>
        </p:nvSpPr>
        <p:spPr>
          <a:xfrm>
            <a:off x="740664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9"/>
          <p:cNvSpPr/>
          <p:nvPr/>
        </p:nvSpPr>
        <p:spPr>
          <a:xfrm>
            <a:off x="781812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20"/>
          <p:cNvSpPr/>
          <p:nvPr/>
        </p:nvSpPr>
        <p:spPr>
          <a:xfrm>
            <a:off x="822960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21"/>
          <p:cNvSpPr/>
          <p:nvPr/>
        </p:nvSpPr>
        <p:spPr>
          <a:xfrm>
            <a:off x="864108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Shape 22"/>
          <p:cNvSpPr/>
          <p:nvPr/>
        </p:nvSpPr>
        <p:spPr>
          <a:xfrm>
            <a:off x="905256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23"/>
          <p:cNvSpPr/>
          <p:nvPr/>
        </p:nvSpPr>
        <p:spPr>
          <a:xfrm>
            <a:off x="946404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24"/>
          <p:cNvSpPr/>
          <p:nvPr/>
        </p:nvSpPr>
        <p:spPr>
          <a:xfrm>
            <a:off x="987552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Shape 25"/>
          <p:cNvSpPr/>
          <p:nvPr/>
        </p:nvSpPr>
        <p:spPr>
          <a:xfrm>
            <a:off x="1028700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26"/>
          <p:cNvSpPr/>
          <p:nvPr/>
        </p:nvSpPr>
        <p:spPr>
          <a:xfrm>
            <a:off x="1069848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27"/>
          <p:cNvSpPr/>
          <p:nvPr/>
        </p:nvSpPr>
        <p:spPr>
          <a:xfrm>
            <a:off x="1110996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28"/>
          <p:cNvSpPr/>
          <p:nvPr/>
        </p:nvSpPr>
        <p:spPr>
          <a:xfrm>
            <a:off x="1152144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29"/>
          <p:cNvSpPr/>
          <p:nvPr/>
        </p:nvSpPr>
        <p:spPr>
          <a:xfrm>
            <a:off x="11932920" y="18288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30"/>
          <p:cNvSpPr/>
          <p:nvPr/>
        </p:nvSpPr>
        <p:spPr>
          <a:xfrm>
            <a:off x="548640" y="8229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2a93b"/>
                </a:solidFill>
                <a:latin typeface="Calibri"/>
                <a:ea typeface="Calibri"/>
              </a:rPr>
              <a:t>MLOps II · CEIA · Trabajo final individual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3" name="Text 31"/>
          <p:cNvSpPr/>
          <p:nvPr/>
        </p:nvSpPr>
        <p:spPr>
          <a:xfrm>
            <a:off x="548640" y="1920240"/>
            <a:ext cx="109720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0" spc="-1" strike="noStrike">
                <a:solidFill>
                  <a:srgbClr val="eef1f4"/>
                </a:solidFill>
                <a:latin typeface="Arial"/>
                <a:ea typeface="Arial"/>
              </a:rPr>
              <a:t>movierec</a:t>
            </a:r>
            <a:endParaRPr b="0" lang="en-US" sz="11000" spc="-1" strike="noStrike">
              <a:latin typeface="Arial"/>
            </a:endParaRPr>
          </a:p>
        </p:txBody>
      </p:sp>
      <p:sp>
        <p:nvSpPr>
          <p:cNvPr id="154" name="Text 32"/>
          <p:cNvSpPr/>
          <p:nvPr/>
        </p:nvSpPr>
        <p:spPr>
          <a:xfrm>
            <a:off x="548640" y="3611880"/>
            <a:ext cx="7863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c9d2dc"/>
                </a:solidFill>
                <a:latin typeface="Calibri"/>
                <a:ea typeface="Calibri"/>
              </a:rPr>
              <a:t>Recomendaciones de películas desde el día 0, sobre una plataforma MLOps completa en contenedores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5" name="Text 33"/>
          <p:cNvSpPr/>
          <p:nvPr/>
        </p:nvSpPr>
        <p:spPr>
          <a:xfrm>
            <a:off x="548640" y="603504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8e9aa8"/>
                </a:solidFill>
                <a:latin typeface="Calibri"/>
                <a:ea typeface="Calibri"/>
              </a:rPr>
              <a:t>Airflow · MLflow · MinIO · Keycloak · PyTorch · gRPC · React — Docker Compose, DEV y PROD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Un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Modelo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para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recomen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dar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película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s a un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usuario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nuevo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que no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tiene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historial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7" name="stat-24"/>
          <p:cNvSpPr/>
          <p:nvPr/>
        </p:nvSpPr>
        <p:spPr>
          <a:xfrm>
            <a:off x="548640" y="1828800"/>
            <a:ext cx="3519720" cy="274248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2"/>
          <p:cNvSpPr/>
          <p:nvPr/>
        </p:nvSpPr>
        <p:spPr>
          <a:xfrm>
            <a:off x="868680" y="2057400"/>
            <a:ext cx="28796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600" spc="-1" strike="noStrike">
                <a:solidFill>
                  <a:srgbClr val="b36a00"/>
                </a:solidFill>
                <a:latin typeface="Arial"/>
                <a:ea typeface="Arial"/>
              </a:rPr>
              <a:t>24</a:t>
            </a:r>
            <a:endParaRPr b="0" lang="en-US" sz="6600" spc="-1" strike="noStrike"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868680" y="3246120"/>
            <a:ext cx="2879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3d4855"/>
                </a:solidFill>
                <a:latin typeface="Calibri"/>
                <a:ea typeface="Calibri"/>
              </a:rPr>
              <a:t>películas al azar de las 200 mejor valoradas, distintas en cada login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0" name="stat-5"/>
          <p:cNvSpPr/>
          <p:nvPr/>
        </p:nvSpPr>
        <p:spPr>
          <a:xfrm>
            <a:off x="4343400" y="1828800"/>
            <a:ext cx="3519720" cy="274248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5"/>
          <p:cNvSpPr/>
          <p:nvPr/>
        </p:nvSpPr>
        <p:spPr>
          <a:xfrm>
            <a:off x="4663440" y="2057400"/>
            <a:ext cx="28796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600" spc="-1" strike="noStrike">
                <a:solidFill>
                  <a:srgbClr val="b36a00"/>
                </a:solidFill>
                <a:latin typeface="Arial"/>
                <a:ea typeface="Arial"/>
              </a:rPr>
              <a:t>5</a:t>
            </a:r>
            <a:endParaRPr b="0" lang="en-US" sz="6600" spc="-1" strike="noStrike"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4663440" y="3246120"/>
            <a:ext cx="2879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3d4855"/>
                </a:solidFill>
                <a:latin typeface="Calibri"/>
                <a:ea typeface="Calibri"/>
              </a:rPr>
              <a:t>elegidas por el usuario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3" name="stat-12"/>
          <p:cNvSpPr/>
          <p:nvPr/>
        </p:nvSpPr>
        <p:spPr>
          <a:xfrm>
            <a:off x="8138160" y="1828800"/>
            <a:ext cx="3519720" cy="274248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8"/>
          <p:cNvSpPr/>
          <p:nvPr/>
        </p:nvSpPr>
        <p:spPr>
          <a:xfrm>
            <a:off x="8458200" y="2057400"/>
            <a:ext cx="28796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600" spc="-1" strike="noStrike">
                <a:solidFill>
                  <a:srgbClr val="b36a00"/>
                </a:solidFill>
                <a:latin typeface="Arial"/>
                <a:ea typeface="Arial"/>
              </a:rPr>
              <a:t>12</a:t>
            </a:r>
            <a:endParaRPr b="0" lang="en-US" sz="6600" spc="-1" strike="noStrike"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8458200" y="3246120"/>
            <a:ext cx="2879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3d4855"/>
                </a:solidFill>
                <a:latin typeface="Calibri"/>
                <a:ea typeface="Calibri"/>
              </a:rPr>
              <a:t>recomendaciones, cada una con su porqué: «Por Toy Story»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548640" y="475488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3d4855"/>
                </a:solidFill>
                <a:latin typeface="Calibri"/>
                <a:ea typeface="Calibri"/>
              </a:rPr>
              <a:t>El modelo aprende embeddings del </a:t>
            </a:r>
            <a:r>
              <a:rPr b="1" lang="en-US" sz="2000" spc="-1" strike="noStrike">
                <a:solidFill>
                  <a:srgbClr val="3d4855"/>
                </a:solidFill>
                <a:latin typeface="Calibri"/>
                <a:ea typeface="Calibri"/>
              </a:rPr>
              <a:t>contenido</a:t>
            </a:r>
            <a:r>
              <a:rPr b="0" lang="en-US" sz="2000" spc="-1" strike="noStrike">
                <a:solidFill>
                  <a:srgbClr val="3d4855"/>
                </a:solidFill>
                <a:latin typeface="Calibri"/>
                <a:ea typeface="Calibri"/>
              </a:rPr>
              <a:t> (sinopsis y keywords de TMDB) y busca vecinos.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6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A0C571-6BD5-4939-BCAE-A919DF23EF7F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Temas de la materia en el proyecto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169" name="Table 0"/>
          <p:cNvGraphicFramePr/>
          <p:nvPr/>
        </p:nvGraphicFramePr>
        <p:xfrm>
          <a:off x="548640" y="1463040"/>
          <a:ext cx="11093760" cy="4534560"/>
        </p:xfrm>
        <a:graphic>
          <a:graphicData uri="http://schemas.openxmlformats.org/drawingml/2006/table">
            <a:tbl>
              <a:tblPr/>
              <a:tblGrid>
                <a:gridCol w="2194560"/>
                <a:gridCol w="8899560"/>
              </a:tblGrid>
              <a:tr h="566640"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eef1f4"/>
                          </a:solidFill>
                          <a:latin typeface="Calibri"/>
                          <a:ea typeface="Calibri"/>
                        </a:rPr>
                        <a:t>Tema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eef1f4"/>
                          </a:solidFill>
                          <a:latin typeface="Calibri"/>
                          <a:ea typeface="Calibri"/>
                        </a:rPr>
                        <a:t>Cómo se implementa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141a22"/>
                    </a:solidFill>
                  </a:tcPr>
                </a:tc>
              </a:tr>
              <a:tr h="566640"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API REST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api-gateway FastAPI: único punto de entrada del frontend, OpenAPI en /api/docs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</a:tr>
              <a:tr h="566640"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gRPC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recommender.proto entre gateway, Airflow y recommender-svc; Reload en caliente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</a:tr>
              <a:tr h="566640"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Seguridad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OIDC con Keycloak, JWT, redes segmentadas, contenedores sin root, CSP, trivy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</a:tr>
              <a:tr h="566640"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Data lake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bronze → silver → gold training y gold app_catalog en MinIO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</a:tr>
              <a:tr h="566640"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Gobernanza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catálogo de datos con responsables y contratos, model cards, minimización de datos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</a:tr>
              <a:tr h="566640"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Roles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3 roles de Keycloak (ML engineer, data scientist, app developer) en Airflow, MLflow y MinIO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</a:tr>
              <a:tr h="568440"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Ciclo de vida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Airflow desde la UI; registry de MLflow con aliases @dev / @production y gate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137160" marR="13716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170" name="PlaceHolder 2"/>
          <p:cNvSpPr>
            <a:spLocks noGrp="1"/>
          </p:cNvSpPr>
          <p:nvPr>
            <p:ph type="sldNum" idx="7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F3E0CD-2CBE-4E8E-95D4-C4F9928C50F6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Una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plataform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a, dos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ambiente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2" name="diagram-frame"/>
          <p:cNvSpPr/>
          <p:nvPr/>
        </p:nvSpPr>
        <p:spPr>
          <a:xfrm>
            <a:off x="548640" y="1417320"/>
            <a:ext cx="11093760" cy="4159800"/>
          </a:xfrm>
          <a:prstGeom prst="roundRect">
            <a:avLst>
              <a:gd name="adj" fmla="val 1758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73" name="Image 0" descr="Diagrama de arquitectura local: plataforma compartida y ambientes DEV y PROD"/>
          <p:cNvPicPr/>
          <p:nvPr/>
        </p:nvPicPr>
        <p:blipFill>
          <a:blip r:embed="rId1"/>
          <a:stretch/>
        </p:blipFill>
        <p:spPr>
          <a:xfrm>
            <a:off x="685800" y="1508760"/>
            <a:ext cx="10819440" cy="3976920"/>
          </a:xfrm>
          <a:prstGeom prst="rect">
            <a:avLst/>
          </a:prstGeom>
          <a:ln w="0">
            <a:noFill/>
          </a:ln>
        </p:spPr>
      </p:pic>
      <p:sp>
        <p:nvSpPr>
          <p:cNvPr id="174" name="Text 2"/>
          <p:cNvSpPr/>
          <p:nvPr/>
        </p:nvSpPr>
        <p:spPr>
          <a:xfrm>
            <a:off x="548640" y="571500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b36a00"/>
                </a:solidFill>
                <a:latin typeface="Calibri"/>
                <a:ea typeface="Calibri"/>
              </a:rPr>
              <a:t>PROD · :80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548640" y="6035040"/>
            <a:ext cx="3565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d4855"/>
                </a:solidFill>
                <a:latin typeface="Calibri"/>
                <a:ea typeface="Calibri"/>
              </a:rPr>
              <a:t>realm movierec · alias @production · base app_prod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4297680" y="571500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c7fbf"/>
                </a:solidFill>
                <a:latin typeface="Calibri"/>
                <a:ea typeface="Calibri"/>
              </a:rPr>
              <a:t>DEV · 127.0.0.1:8081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4297680" y="6035040"/>
            <a:ext cx="3565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d4855"/>
                </a:solidFill>
                <a:latin typeface="Calibri"/>
                <a:ea typeface="Calibri"/>
              </a:rPr>
              <a:t>mismo compose.app.yml, otro env · realm platform · @dev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8046720" y="571500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Plataforma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8046720" y="6035040"/>
            <a:ext cx="3565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d4855"/>
                </a:solidFill>
                <a:latin typeface="Calibri"/>
                <a:ea typeface="Calibri"/>
              </a:rPr>
              <a:t>Airflow 2.10 · MLflow 2.19 · MinIO · Keycloak 26 · Postgres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8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B16DF9-CE1F-4DCD-BFA6-670FC75928DC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Datos: un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dataset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gold por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uso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2" name="layer-bronze"/>
          <p:cNvSpPr/>
          <p:nvPr/>
        </p:nvSpPr>
        <p:spPr>
          <a:xfrm>
            <a:off x="548640" y="1554480"/>
            <a:ext cx="2605320" cy="3016800"/>
          </a:xfrm>
          <a:prstGeom prst="roundRect">
            <a:avLst>
              <a:gd name="adj" fmla="val 280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2"/>
          <p:cNvSpPr/>
          <p:nvPr/>
        </p:nvSpPr>
        <p:spPr>
          <a:xfrm>
            <a:off x="822960" y="1810440"/>
            <a:ext cx="236880" cy="236880"/>
          </a:xfrm>
          <a:prstGeom prst="ellipse">
            <a:avLst/>
          </a:prstGeom>
          <a:solidFill>
            <a:srgbClr val="9c6b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3"/>
          <p:cNvSpPr/>
          <p:nvPr/>
        </p:nvSpPr>
        <p:spPr>
          <a:xfrm>
            <a:off x="1188720" y="1774080"/>
            <a:ext cx="1873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bronze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822960" y="2331720"/>
            <a:ext cx="2148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9c6b3c"/>
                </a:solidFill>
                <a:latin typeface="Arial"/>
                <a:ea typeface="Arial"/>
              </a:rPr>
              <a:t>1,51 M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822960" y="3291840"/>
            <a:ext cx="2148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d4855"/>
                </a:solidFill>
                <a:latin typeface="Calibri"/>
                <a:ea typeface="Calibri"/>
              </a:rPr>
              <a:t>CSV de Kaggle, bajado una vez y sin credenciales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3163680" y="2926080"/>
            <a:ext cx="14544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da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layer-silver"/>
          <p:cNvSpPr/>
          <p:nvPr/>
        </p:nvSpPr>
        <p:spPr>
          <a:xfrm>
            <a:off x="3319200" y="1554480"/>
            <a:ext cx="2605320" cy="3016800"/>
          </a:xfrm>
          <a:prstGeom prst="roundRect">
            <a:avLst>
              <a:gd name="adj" fmla="val 280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8"/>
          <p:cNvSpPr/>
          <p:nvPr/>
        </p:nvSpPr>
        <p:spPr>
          <a:xfrm>
            <a:off x="3593520" y="1810440"/>
            <a:ext cx="236880" cy="236880"/>
          </a:xfrm>
          <a:prstGeom prst="ellipse">
            <a:avLst/>
          </a:prstGeom>
          <a:solidFill>
            <a:srgbClr val="5a66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9"/>
          <p:cNvSpPr/>
          <p:nvPr/>
        </p:nvSpPr>
        <p:spPr>
          <a:xfrm>
            <a:off x="3959280" y="1774080"/>
            <a:ext cx="1873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silver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3593520" y="2331720"/>
            <a:ext cx="2148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5a6675"/>
                </a:solidFill>
                <a:latin typeface="Arial"/>
                <a:ea typeface="Arial"/>
              </a:rPr>
              <a:t>998.831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3593520" y="3291840"/>
            <a:ext cx="2148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d4855"/>
                </a:solidFill>
                <a:latin typeface="Calibri"/>
                <a:ea typeface="Calibri"/>
              </a:rPr>
              <a:t>limpio y tipado, sin filtro de votos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5934600" y="2926080"/>
            <a:ext cx="14544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da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layer-gold training"/>
          <p:cNvSpPr/>
          <p:nvPr/>
        </p:nvSpPr>
        <p:spPr>
          <a:xfrm>
            <a:off x="6089760" y="1554480"/>
            <a:ext cx="2605320" cy="3016800"/>
          </a:xfrm>
          <a:prstGeom prst="roundRect">
            <a:avLst>
              <a:gd name="adj" fmla="val 280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14"/>
          <p:cNvSpPr/>
          <p:nvPr/>
        </p:nvSpPr>
        <p:spPr>
          <a:xfrm>
            <a:off x="6364080" y="1810440"/>
            <a:ext cx="236880" cy="236880"/>
          </a:xfrm>
          <a:prstGeom prst="ellipse">
            <a:avLst/>
          </a:prstGeom>
          <a:solidFill>
            <a:srgbClr val="4c7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5"/>
          <p:cNvSpPr/>
          <p:nvPr/>
        </p:nvSpPr>
        <p:spPr>
          <a:xfrm>
            <a:off x="6729840" y="1774080"/>
            <a:ext cx="1873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gold training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6364080" y="2331720"/>
            <a:ext cx="2148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4c7fbf"/>
                </a:solidFill>
                <a:latin typeface="Arial"/>
                <a:ea typeface="Arial"/>
              </a:rPr>
              <a:t>52.960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6364080" y="3291840"/>
            <a:ext cx="2148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d4855"/>
                </a:solidFill>
                <a:latin typeface="Calibri"/>
                <a:ea typeface="Calibri"/>
              </a:rPr>
              <a:t>géneros y keywords, más de 10 votos: entrena el modelo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99" name="Shape 18"/>
          <p:cNvSpPr/>
          <p:nvPr/>
        </p:nvSpPr>
        <p:spPr>
          <a:xfrm>
            <a:off x="8705160" y="2926080"/>
            <a:ext cx="14544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da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layer-gold app_catalog"/>
          <p:cNvSpPr/>
          <p:nvPr/>
        </p:nvSpPr>
        <p:spPr>
          <a:xfrm>
            <a:off x="8860680" y="1554480"/>
            <a:ext cx="2605320" cy="3016800"/>
          </a:xfrm>
          <a:prstGeom prst="roundRect">
            <a:avLst>
              <a:gd name="adj" fmla="val 280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Shape 20"/>
          <p:cNvSpPr/>
          <p:nvPr/>
        </p:nvSpPr>
        <p:spPr>
          <a:xfrm>
            <a:off x="9135000" y="1810440"/>
            <a:ext cx="236880" cy="236880"/>
          </a:xfrm>
          <a:prstGeom prst="ellipse">
            <a:avLst/>
          </a:prstGeom>
          <a:solidFill>
            <a:srgbClr val="b3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1"/>
          <p:cNvSpPr/>
          <p:nvPr/>
        </p:nvSpPr>
        <p:spPr>
          <a:xfrm>
            <a:off x="9500760" y="1774080"/>
            <a:ext cx="1873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gold app_catalog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3" name="Text 22"/>
          <p:cNvSpPr/>
          <p:nvPr/>
        </p:nvSpPr>
        <p:spPr>
          <a:xfrm>
            <a:off x="9135000" y="2331720"/>
            <a:ext cx="2148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b36a00"/>
                </a:solidFill>
                <a:latin typeface="Arial"/>
                <a:ea typeface="Arial"/>
              </a:rPr>
              <a:t>11.093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204" name="Text 23"/>
          <p:cNvSpPr/>
          <p:nvPr/>
        </p:nvSpPr>
        <p:spPr>
          <a:xfrm>
            <a:off x="9135000" y="3291840"/>
            <a:ext cx="2148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d4855"/>
                </a:solidFill>
                <a:latin typeface="Calibri"/>
                <a:ea typeface="Calibri"/>
              </a:rPr>
              <a:t>al menos 200 votos: lo que se recomienda y se muestra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5" name="Text 24"/>
          <p:cNvSpPr/>
          <p:nvPr/>
        </p:nvSpPr>
        <p:spPr>
          <a:xfrm>
            <a:off x="548640" y="4983480"/>
            <a:ext cx="10789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3d4855"/>
                </a:solidFill>
                <a:latin typeface="Calibri"/>
                <a:ea typeface="Calibri"/>
              </a:rPr>
              <a:t>Dataset de Kaggle versión 1087.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br>
              <a:rPr sz="1900"/>
            </a:br>
            <a:r>
              <a:rPr b="0" lang="en-US" sz="1900" spc="-1" strike="noStrike">
                <a:solidFill>
                  <a:srgbClr val="3d4855"/>
                </a:solidFill>
                <a:latin typeface="Calibri"/>
                <a:ea typeface="Calibri"/>
              </a:rPr>
              <a:t>https://www.kaggle.com/datasets/asaniczka/tmdb-movies-dataset-2023-930k-movies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9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22C887-9E7B-40BA-A1B5-F010762A4B63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Modelo: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clasificad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or de dos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salidas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8" name="box-texto"/>
          <p:cNvSpPr/>
          <p:nvPr/>
        </p:nvSpPr>
        <p:spPr>
          <a:xfrm>
            <a:off x="548640" y="1600200"/>
            <a:ext cx="2513880" cy="867960"/>
          </a:xfrm>
          <a:prstGeom prst="roundRect">
            <a:avLst>
              <a:gd name="adj" fmla="val 8421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2"/>
          <p:cNvSpPr/>
          <p:nvPr/>
        </p:nvSpPr>
        <p:spPr>
          <a:xfrm>
            <a:off x="731520" y="1600200"/>
            <a:ext cx="2148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texto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5a6675"/>
                </a:solidFill>
                <a:latin typeface="Calibri"/>
                <a:ea typeface="Calibri"/>
              </a:rPr>
              <a:t>sinopsis y keywords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0" name="box-tabular"/>
          <p:cNvSpPr/>
          <p:nvPr/>
        </p:nvSpPr>
        <p:spPr>
          <a:xfrm>
            <a:off x="548640" y="2651760"/>
            <a:ext cx="2513880" cy="867960"/>
          </a:xfrm>
          <a:prstGeom prst="roundRect">
            <a:avLst>
              <a:gd name="adj" fmla="val 8421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4"/>
          <p:cNvSpPr/>
          <p:nvPr/>
        </p:nvSpPr>
        <p:spPr>
          <a:xfrm>
            <a:off x="731520" y="2651760"/>
            <a:ext cx="2148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tabular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5a6675"/>
                </a:solidFill>
                <a:latin typeface="Calibri"/>
                <a:ea typeface="Calibri"/>
              </a:rPr>
              <a:t>budget, año, categóricas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3200400" y="2395800"/>
            <a:ext cx="456480" cy="291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d8a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box-tronco"/>
          <p:cNvSpPr/>
          <p:nvPr/>
        </p:nvSpPr>
        <p:spPr>
          <a:xfrm>
            <a:off x="3840480" y="2057400"/>
            <a:ext cx="2376720" cy="1005120"/>
          </a:xfrm>
          <a:prstGeom prst="roundRect">
            <a:avLst>
              <a:gd name="adj" fmla="val 7273"/>
            </a:avLst>
          </a:prstGeom>
          <a:solidFill>
            <a:srgbClr val="141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7"/>
          <p:cNvSpPr/>
          <p:nvPr/>
        </p:nvSpPr>
        <p:spPr>
          <a:xfrm>
            <a:off x="4023360" y="2057400"/>
            <a:ext cx="20109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2a93b"/>
                </a:solidFill>
                <a:latin typeface="Calibri"/>
                <a:ea typeface="Calibri"/>
              </a:rPr>
              <a:t>tronco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eef1f4"/>
                </a:solidFill>
                <a:latin typeface="Calibri"/>
                <a:ea typeface="Calibri"/>
              </a:rPr>
              <a:t>embedding de 128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6400800" y="2395800"/>
            <a:ext cx="456480" cy="291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d8a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box-cabeza 1"/>
          <p:cNvSpPr/>
          <p:nvPr/>
        </p:nvSpPr>
        <p:spPr>
          <a:xfrm>
            <a:off x="7040880" y="1600200"/>
            <a:ext cx="2925360" cy="867960"/>
          </a:xfrm>
          <a:prstGeom prst="roundRect">
            <a:avLst>
              <a:gd name="adj" fmla="val 8421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0"/>
          <p:cNvSpPr/>
          <p:nvPr/>
        </p:nvSpPr>
        <p:spPr>
          <a:xfrm>
            <a:off x="7223760" y="1600200"/>
            <a:ext cx="2559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cabeza 1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5a6675"/>
                </a:solidFill>
                <a:latin typeface="Calibri"/>
                <a:ea typeface="Calibri"/>
              </a:rPr>
              <a:t>géneros (multi-label)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8" name="box-cabeza 2"/>
          <p:cNvSpPr/>
          <p:nvPr/>
        </p:nvSpPr>
        <p:spPr>
          <a:xfrm>
            <a:off x="7040880" y="2651760"/>
            <a:ext cx="2925360" cy="867960"/>
          </a:xfrm>
          <a:prstGeom prst="roundRect">
            <a:avLst>
              <a:gd name="adj" fmla="val 8421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2"/>
          <p:cNvSpPr/>
          <p:nvPr/>
        </p:nvSpPr>
        <p:spPr>
          <a:xfrm>
            <a:off x="7223760" y="2651760"/>
            <a:ext cx="2559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41a22"/>
                </a:solidFill>
                <a:latin typeface="Calibri"/>
                <a:ea typeface="Calibri"/>
              </a:rPr>
              <a:t>cabeza 2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5a6675"/>
                </a:solidFill>
                <a:latin typeface="Calibri"/>
                <a:ea typeface="Calibri"/>
              </a:rPr>
              <a:t>productora o idioma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548640" y="3977640"/>
            <a:ext cx="1078920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3d4855"/>
                </a:solidFill>
                <a:latin typeface="Calibri"/>
                <a:ea typeface="Calibri"/>
              </a:rPr>
              <a:t>Cuatro configs (v1–v4): keywords como texto o multi-hot; productora o idioma como segunda cabeza.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3d4855"/>
                </a:solidFill>
                <a:latin typeface="Calibri"/>
                <a:ea typeface="Calibri"/>
              </a:rPr>
              <a:t>El servicio de recomendación usa solo el embedding del tronco y hace una inferencia batch con todas las peliculas del catalogo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3d4855"/>
                </a:solidFill>
                <a:latin typeface="Calibri"/>
                <a:ea typeface="Calibri"/>
              </a:rPr>
              <a:t>F1 micro por cabeza sobre test; early stopping por val_loss.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3d4855"/>
                </a:solidFill>
                <a:latin typeface="Calibri"/>
                <a:ea typeface="Calibri"/>
              </a:rPr>
              <a:t>Gate: la versión nueva pasa a @dev si no empeora el f1_genre de @production.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10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462A88-3E72-4677-82E9-454389B5E041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R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c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o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m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n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d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a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ci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ó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n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: 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v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ci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n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o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s 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p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o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r 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p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el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íc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u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la 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el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g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i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d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a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48640" y="1554480"/>
            <a:ext cx="31082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2a93b"/>
                </a:solidFill>
                <a:latin typeface="Arial"/>
                <a:ea typeface="Arial"/>
              </a:rPr>
              <a:t>5 × 3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548640" y="288036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c9d2dc"/>
                </a:solidFill>
                <a:latin typeface="Calibri"/>
                <a:ea typeface="Calibri"/>
              </a:rPr>
              <a:t>3 vecinos coseno por semilla = 15 candidatos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3703320" y="2011680"/>
            <a:ext cx="456480" cy="291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a46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4"/>
          <p:cNvSpPr/>
          <p:nvPr/>
        </p:nvSpPr>
        <p:spPr>
          <a:xfrm>
            <a:off x="4343400" y="1554480"/>
            <a:ext cx="31082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2a93b"/>
                </a:solidFill>
                <a:latin typeface="Arial"/>
                <a:ea typeface="Arial"/>
              </a:rPr>
              <a:t>z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4343400" y="288036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c9d2dc"/>
                </a:solidFill>
                <a:latin typeface="Calibri"/>
                <a:ea typeface="Calibri"/>
              </a:rPr>
              <a:t>similitud normalizada con z-score por semilla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8" name="Shape 6"/>
          <p:cNvSpPr/>
          <p:nvPr/>
        </p:nvSpPr>
        <p:spPr>
          <a:xfrm>
            <a:off x="7498080" y="2011680"/>
            <a:ext cx="456480" cy="291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a46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7"/>
          <p:cNvSpPr/>
          <p:nvPr/>
        </p:nvSpPr>
        <p:spPr>
          <a:xfrm>
            <a:off x="8138160" y="1554480"/>
            <a:ext cx="31082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2a93b"/>
                </a:solidFill>
                <a:latin typeface="Arial"/>
                <a:ea typeface="Arial"/>
              </a:rPr>
              <a:t>12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8138160" y="288036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c9d2dc"/>
                </a:solidFill>
                <a:latin typeface="Calibri"/>
                <a:ea typeface="Calibri"/>
              </a:rPr>
              <a:t>las mejores, cada una con because_of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1" name="serving-contract"/>
          <p:cNvSpPr/>
          <p:nvPr/>
        </p:nvSpPr>
        <p:spPr>
          <a:xfrm>
            <a:off x="548640" y="4069080"/>
            <a:ext cx="11093760" cy="1919520"/>
          </a:xfrm>
          <a:prstGeom prst="roundRect">
            <a:avLst>
              <a:gd name="adj" fmla="val 3810"/>
            </a:avLst>
          </a:prstGeom>
          <a:solidFill>
            <a:srgbClr val="1e26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0"/>
          <p:cNvSpPr/>
          <p:nvPr/>
        </p:nvSpPr>
        <p:spPr>
          <a:xfrm>
            <a:off x="868680" y="4251960"/>
            <a:ext cx="1045368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ef1f4"/>
                </a:solidFill>
                <a:latin typeface="Calibri"/>
                <a:ea typeface="Calibri"/>
              </a:rPr>
              <a:t>Qué carga el recommender: </a:t>
            </a:r>
            <a:r>
              <a:rPr b="0" lang="en-US" sz="1700" spc="-1" strike="noStrike">
                <a:solidFill>
                  <a:srgbClr val="c9d2dc"/>
                </a:solidFill>
                <a:latin typeface="Calibri"/>
                <a:ea typeface="Calibri"/>
              </a:rPr>
              <a:t>un vector por película y su id, no la red y devuelve: 12 ids; 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c9d2dc"/>
                </a:solidFill>
                <a:latin typeface="Calibri"/>
                <a:ea typeface="Calibri"/>
              </a:rPr>
              <a:t>El gateway:</a:t>
            </a:r>
            <a:r>
              <a:rPr b="0" lang="en-US" sz="1700" spc="-1" strike="noStrike">
                <a:solidFill>
                  <a:srgbClr val="c9d2dc"/>
                </a:solidFill>
                <a:latin typeface="Calibri"/>
                <a:ea typeface="Calibri"/>
              </a:rPr>
              <a:t> les agrega título y póster desde la base de la app. 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ef1f4"/>
                </a:solidFill>
                <a:latin typeface="Calibri"/>
                <a:ea typeface="Calibri"/>
              </a:rPr>
              <a:t>Reload por gRPC: </a:t>
            </a:r>
            <a:r>
              <a:rPr b="0" lang="en-US" sz="1700" spc="-1" strike="noStrike">
                <a:solidFill>
                  <a:srgbClr val="c9d2dc"/>
                </a:solidFill>
                <a:latin typeface="Calibri"/>
                <a:ea typeface="Calibri"/>
              </a:rPr>
              <a:t>solo con JWT de rol model-deployer; si la recarga falla, sigue sirviendo el modelo anterior.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ldNum" idx="11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8e9aa8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64C242-2865-42D3-BB59-29561B5EA379}" type="slidenum">
              <a:rPr b="0" lang="en-US" sz="1100" spc="-1" strike="noStrike">
                <a:solidFill>
                  <a:srgbClr val="8e9aa8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Demo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: de 5 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elegi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das a 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12 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reco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mend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acion</a:t>
            </a: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5" name="shot-0"/>
          <p:cNvSpPr/>
          <p:nvPr/>
        </p:nvSpPr>
        <p:spPr>
          <a:xfrm>
            <a:off x="548640" y="1417320"/>
            <a:ext cx="5394240" cy="3565440"/>
          </a:xfrm>
          <a:prstGeom prst="roundRect">
            <a:avLst>
              <a:gd name="adj" fmla="val 2051"/>
            </a:avLst>
          </a:prstGeom>
          <a:solidFill>
            <a:srgbClr val="0e12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6" name="Image 0" descr="Onboarding de MovieRec: películas para elegir 5"/>
          <p:cNvPicPr/>
          <p:nvPr/>
        </p:nvPicPr>
        <p:blipFill>
          <a:blip r:embed="rId1"/>
          <a:stretch/>
        </p:blipFill>
        <p:spPr>
          <a:xfrm>
            <a:off x="621720" y="1463040"/>
            <a:ext cx="5248080" cy="3474000"/>
          </a:xfrm>
          <a:prstGeom prst="rect">
            <a:avLst/>
          </a:prstGeom>
          <a:ln w="0">
            <a:noFill/>
          </a:ln>
        </p:spPr>
      </p:pic>
      <p:sp>
        <p:nvSpPr>
          <p:cNvPr id="237" name="Text 2"/>
          <p:cNvSpPr/>
          <p:nvPr/>
        </p:nvSpPr>
        <p:spPr>
          <a:xfrm>
            <a:off x="548640" y="5120640"/>
            <a:ext cx="5394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9d2dc"/>
                </a:solidFill>
                <a:latin typeface="Calibri"/>
                <a:ea typeface="Calibri"/>
              </a:rPr>
              <a:t>Onboarding: 24 al azar del pool de 200; el botón se habilita con 5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8" name="shot-1"/>
          <p:cNvSpPr/>
          <p:nvPr/>
        </p:nvSpPr>
        <p:spPr>
          <a:xfrm>
            <a:off x="6245280" y="1417320"/>
            <a:ext cx="5394240" cy="3565440"/>
          </a:xfrm>
          <a:prstGeom prst="roundRect">
            <a:avLst>
              <a:gd name="adj" fmla="val 2051"/>
            </a:avLst>
          </a:prstGeom>
          <a:solidFill>
            <a:srgbClr val="0e12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9" name="Image 1" descr="Recomendaciones de MovieRec con el motivo de cada una"/>
          <p:cNvPicPr/>
          <p:nvPr/>
        </p:nvPicPr>
        <p:blipFill>
          <a:blip r:embed="rId2"/>
          <a:stretch/>
        </p:blipFill>
        <p:spPr>
          <a:xfrm>
            <a:off x="6318360" y="1463040"/>
            <a:ext cx="5248080" cy="3474000"/>
          </a:xfrm>
          <a:prstGeom prst="rect">
            <a:avLst/>
          </a:prstGeom>
          <a:ln w="0">
            <a:noFill/>
          </a:ln>
        </p:spPr>
      </p:pic>
      <p:sp>
        <p:nvSpPr>
          <p:cNvPr id="240" name="Text 4"/>
          <p:cNvSpPr/>
          <p:nvPr/>
        </p:nvSpPr>
        <p:spPr>
          <a:xfrm>
            <a:off x="6245280" y="5120640"/>
            <a:ext cx="5394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9d2dc"/>
                </a:solidFill>
                <a:latin typeface="Calibri"/>
                <a:ea typeface="Calibri"/>
              </a:rPr>
              <a:t>Recomendaciones con su porqué: de qué elegida sale cada una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548640" y="598932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e9aa8"/>
                </a:solidFill>
                <a:latin typeface="Calibri"/>
                <a:ea typeface="Calibri"/>
              </a:rPr>
              <a:t>PROD http://localhost (realm movierec) · DEV http://localhost:8081 (solo equipo) · pósters desde la cache de MinIO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sldNum" idx="12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8e9aa8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BD56B8-34E0-4DB1-80E8-61A93A746905}" type="slidenum">
              <a:rPr b="0" lang="en-US" sz="1100" spc="-1" strike="noStrike">
                <a:solidFill>
                  <a:srgbClr val="8e9aa8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Ciclo de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vida del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modelo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desde la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UI de </a:t>
            </a: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Airflow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4" name="step-0"/>
          <p:cNvSpPr/>
          <p:nvPr/>
        </p:nvSpPr>
        <p:spPr>
          <a:xfrm>
            <a:off x="548640" y="1508760"/>
            <a:ext cx="2605320" cy="2376720"/>
          </a:xfrm>
          <a:prstGeom prst="roundRect">
            <a:avLst>
              <a:gd name="adj" fmla="val 307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2"/>
          <p:cNvSpPr/>
          <p:nvPr/>
        </p:nvSpPr>
        <p:spPr>
          <a:xfrm>
            <a:off x="804600" y="1737360"/>
            <a:ext cx="383400" cy="383400"/>
          </a:xfrm>
          <a:prstGeom prst="ellipse">
            <a:avLst/>
          </a:prstGeom>
          <a:solidFill>
            <a:srgbClr val="4c7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3"/>
          <p:cNvSpPr/>
          <p:nvPr/>
        </p:nvSpPr>
        <p:spPr>
          <a:xfrm>
            <a:off x="804600" y="17373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bfcfd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804600" y="2240280"/>
            <a:ext cx="2148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4c7fbf"/>
                </a:solidFill>
                <a:latin typeface="Calibri"/>
                <a:ea typeface="Calibri"/>
              </a:rPr>
              <a:t>train_movierec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804600" y="2651760"/>
            <a:ext cx="2148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d4855"/>
                </a:solidFill>
                <a:latin typeface="Calibri"/>
                <a:ea typeface="Calibri"/>
              </a:rPr>
              <a:t>ds_user entrena una config; si pasa el gate queda en @dev y DEV la recarga en caliente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9" name="step-1"/>
          <p:cNvSpPr/>
          <p:nvPr/>
        </p:nvSpPr>
        <p:spPr>
          <a:xfrm>
            <a:off x="3319200" y="1508760"/>
            <a:ext cx="2605320" cy="2376720"/>
          </a:xfrm>
          <a:prstGeom prst="roundRect">
            <a:avLst>
              <a:gd name="adj" fmla="val 307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Shape 7"/>
          <p:cNvSpPr/>
          <p:nvPr/>
        </p:nvSpPr>
        <p:spPr>
          <a:xfrm>
            <a:off x="3575160" y="1737360"/>
            <a:ext cx="383400" cy="383400"/>
          </a:xfrm>
          <a:prstGeom prst="ellipse">
            <a:avLst/>
          </a:prstGeom>
          <a:solidFill>
            <a:srgbClr val="4c7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8"/>
          <p:cNvSpPr/>
          <p:nvPr/>
        </p:nvSpPr>
        <p:spPr>
          <a:xfrm>
            <a:off x="3575160" y="17373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bfcfd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3575160" y="2240280"/>
            <a:ext cx="2148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4c7fbf"/>
                </a:solidFill>
                <a:latin typeface="Calibri"/>
                <a:ea typeface="Calibri"/>
              </a:rPr>
              <a:t>prueba en DEV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3575160" y="2651760"/>
            <a:ext cx="2148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d4855"/>
                </a:solidFill>
                <a:latin typeface="Calibri"/>
                <a:ea typeface="Calibri"/>
              </a:rPr>
              <a:t>el equipo la prueba en 127.0.0.1:8081 antes de promoverla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4" name="step-2"/>
          <p:cNvSpPr/>
          <p:nvPr/>
        </p:nvSpPr>
        <p:spPr>
          <a:xfrm>
            <a:off x="6089760" y="1508760"/>
            <a:ext cx="2605320" cy="2376720"/>
          </a:xfrm>
          <a:prstGeom prst="roundRect">
            <a:avLst>
              <a:gd name="adj" fmla="val 307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Shape 12"/>
          <p:cNvSpPr/>
          <p:nvPr/>
        </p:nvSpPr>
        <p:spPr>
          <a:xfrm>
            <a:off x="6346080" y="1737360"/>
            <a:ext cx="383400" cy="383400"/>
          </a:xfrm>
          <a:prstGeom prst="ellipse">
            <a:avLst/>
          </a:prstGeom>
          <a:solidFill>
            <a:srgbClr val="b3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13"/>
          <p:cNvSpPr/>
          <p:nvPr/>
        </p:nvSpPr>
        <p:spPr>
          <a:xfrm>
            <a:off x="6346080" y="17373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bfcfd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6346080" y="2240280"/>
            <a:ext cx="2148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b36a00"/>
                </a:solidFill>
                <a:latin typeface="Calibri"/>
                <a:ea typeface="Calibri"/>
              </a:rPr>
              <a:t>promote (dev)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6346080" y="2651760"/>
            <a:ext cx="2148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d4855"/>
                </a:solidFill>
                <a:latin typeface="Calibri"/>
                <a:ea typeface="Calibri"/>
              </a:rPr>
              <a:t>mle_user: validate_dev, @production, catálogo de PROD y Reload sin reiniciar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9" name="step-3"/>
          <p:cNvSpPr/>
          <p:nvPr/>
        </p:nvSpPr>
        <p:spPr>
          <a:xfrm>
            <a:off x="8860680" y="1508760"/>
            <a:ext cx="2605320" cy="2376720"/>
          </a:xfrm>
          <a:prstGeom prst="roundRect">
            <a:avLst>
              <a:gd name="adj" fmla="val 3077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Shape 17"/>
          <p:cNvSpPr/>
          <p:nvPr/>
        </p:nvSpPr>
        <p:spPr>
          <a:xfrm>
            <a:off x="9116640" y="1737360"/>
            <a:ext cx="383400" cy="383400"/>
          </a:xfrm>
          <a:prstGeom prst="ellipse">
            <a:avLst/>
          </a:prstGeom>
          <a:solidFill>
            <a:srgbClr val="b3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18"/>
          <p:cNvSpPr/>
          <p:nvPr/>
        </p:nvSpPr>
        <p:spPr>
          <a:xfrm>
            <a:off x="9116640" y="17373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bfcfd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9116640" y="2240280"/>
            <a:ext cx="2148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b36a00"/>
                </a:solidFill>
                <a:latin typeface="Calibri"/>
                <a:ea typeface="Calibri"/>
              </a:rPr>
              <a:t>promote (n)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63" name="Text 20"/>
          <p:cNvSpPr/>
          <p:nvPr/>
        </p:nvSpPr>
        <p:spPr>
          <a:xfrm>
            <a:off x="9116640" y="2651760"/>
            <a:ext cx="2148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d4855"/>
                </a:solidFill>
                <a:latin typeface="Calibri"/>
                <a:ea typeface="Calibri"/>
              </a:rPr>
              <a:t>rollback: @production vuelve a una versión anterior, sin validar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4" name="run-result"/>
          <p:cNvSpPr/>
          <p:nvPr/>
        </p:nvSpPr>
        <p:spPr>
          <a:xfrm>
            <a:off x="548640" y="4114800"/>
            <a:ext cx="11093760" cy="1690920"/>
          </a:xfrm>
          <a:prstGeom prst="roundRect">
            <a:avLst>
              <a:gd name="adj" fmla="val 4324"/>
            </a:avLst>
          </a:prstGeom>
          <a:solidFill>
            <a:srgbClr val="e2e7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22"/>
          <p:cNvSpPr/>
          <p:nvPr/>
        </p:nvSpPr>
        <p:spPr>
          <a:xfrm>
            <a:off x="822960" y="427932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41a22"/>
                </a:solidFill>
                <a:latin typeface="Calibri"/>
                <a:ea typeface="Calibri"/>
              </a:rPr>
              <a:t>Probado en esta instalación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66" name="Text 23"/>
          <p:cNvSpPr/>
          <p:nvPr/>
        </p:nvSpPr>
        <p:spPr>
          <a:xfrm>
            <a:off x="822960" y="4663440"/>
            <a:ext cx="10545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d4855"/>
                </a:solidFill>
                <a:latin typeface="Calibri"/>
                <a:ea typeface="Calibri"/>
              </a:rPr>
              <a:t>ds_user reentrena v1 → versión 2 con f1_genre 0,5326 contra 0,5330: el gate la rechaza y no pasa a @dev; ds_user recibe 403 en promote.</a:t>
            </a:r>
            <a:endParaRPr b="0" lang="en-US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d4855"/>
                </a:solidFill>
                <a:latin typeface="Calibri"/>
                <a:ea typeface="Calibri"/>
              </a:rPr>
              <a:t>mle_user corre promote 2 → @production 1 → 2 y PROD recarga en caliente, sin validar (versión explícita).</a:t>
            </a:r>
            <a:endParaRPr b="0" lang="en-US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d4855"/>
                </a:solidFill>
                <a:latin typeface="Calibri"/>
                <a:ea typeface="Calibri"/>
              </a:rPr>
              <a:t>mle_user corre promote dev → validate_dev OK, @production 2 → 1: rollback a v1 sin reiniciar nada.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7" name="Text 24"/>
          <p:cNvSpPr/>
          <p:nvPr/>
        </p:nvSpPr>
        <p:spPr>
          <a:xfrm>
            <a:off x="548640" y="5989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a6675"/>
                </a:solidFill>
                <a:latin typeface="Calibri"/>
                <a:ea typeface="Calibri"/>
              </a:rPr>
              <a:t>La app se publica aparte: make up-prod lleva a PROD las mismas imágenes probadas en DEV, sin reconstruir.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13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DA1F08-C128-4EE6-8F3B-A8CACAD0104F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El registry de MLflow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548640" y="1554480"/>
            <a:ext cx="447984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700" spc="-1" strike="noStrike">
                <a:solidFill>
                  <a:srgbClr val="3d4855"/>
                </a:solidFill>
                <a:latin typeface="Calibri"/>
                <a:ea typeface="Calibri"/>
              </a:rPr>
              <a:t>Cada versión lleva config, heads, git sha, contrato y el resultado del gate.</a:t>
            </a:r>
            <a:endParaRPr b="0" lang="en-US" sz="1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700" spc="-1" strike="noStrike">
                <a:solidFill>
                  <a:srgbClr val="3d4855"/>
                </a:solidFill>
                <a:latin typeface="Calibri"/>
                <a:ea typeface="Calibri"/>
              </a:rPr>
              <a:t>Aliases @dev y @production: cada ambiente carga el suyo.</a:t>
            </a:r>
            <a:endParaRPr b="0" lang="en-US" sz="1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700" spc="-1" strike="noStrike">
                <a:solidFill>
                  <a:srgbClr val="3d4855"/>
                </a:solidFill>
                <a:latin typeface="Calibri"/>
                <a:ea typeface="Calibri"/>
              </a:rPr>
              <a:t>F1 por cabeza y model card con ejemplos de vecinos.</a:t>
            </a:r>
            <a:endParaRPr b="0" lang="en-US" sz="1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700" spc="-1" strike="noStrike">
                <a:solidFill>
                  <a:srgbClr val="3d4855"/>
                </a:solidFill>
                <a:latin typeface="Calibri"/>
                <a:ea typeface="Calibri"/>
              </a:rPr>
              <a:t>Un bundle incompatible no se carga: el recommender sigue con el anterior.</a:t>
            </a:r>
            <a:endParaRPr b="0" lang="en-US" sz="1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141a22"/>
              </a:buClr>
              <a:buFont typeface="Symbol"/>
              <a:buChar char=""/>
            </a:pPr>
            <a:r>
              <a:rPr b="1" lang="en-US" sz="1700" spc="-1" strike="noStrike">
                <a:solidFill>
                  <a:srgbClr val="141a22"/>
                </a:solidFill>
                <a:latin typeface="Calibri"/>
                <a:ea typeface="Calibri"/>
              </a:rPr>
              <a:t>Demo: v1 en @dev y @production; v2 quedó registrada pero el gate la rechazó.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71" name="registry-frame"/>
          <p:cNvSpPr/>
          <p:nvPr/>
        </p:nvSpPr>
        <p:spPr>
          <a:xfrm>
            <a:off x="5349240" y="1600200"/>
            <a:ext cx="6290280" cy="4022640"/>
          </a:xfrm>
          <a:prstGeom prst="roundRect">
            <a:avLst>
              <a:gd name="adj" fmla="val 1818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2" name="Image 0" descr="Registry de MLflow: versión 1 con aliases dev y production y versión 2 rechazada por el gate"/>
          <p:cNvPicPr/>
          <p:nvPr/>
        </p:nvPicPr>
        <p:blipFill>
          <a:blip r:embed="rId1"/>
          <a:stretch/>
        </p:blipFill>
        <p:spPr>
          <a:xfrm>
            <a:off x="5422320" y="1664280"/>
            <a:ext cx="6144120" cy="3894480"/>
          </a:xfrm>
          <a:prstGeom prst="rect">
            <a:avLst/>
          </a:prstGeom>
          <a:ln w="0">
            <a:noFill/>
          </a:ln>
        </p:spPr>
      </p:pic>
      <p:sp>
        <p:nvSpPr>
          <p:cNvPr id="273" name="PlaceHolder 2"/>
          <p:cNvSpPr>
            <a:spLocks noGrp="1"/>
          </p:cNvSpPr>
          <p:nvPr>
            <p:ph type="sldNum" idx="14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639F10-ABBC-4C58-8B4A-AF8F428F56D4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Seguridad por capas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5" name="sec-Red"/>
          <p:cNvSpPr/>
          <p:nvPr/>
        </p:nvSpPr>
        <p:spPr>
          <a:xfrm>
            <a:off x="548640" y="1463040"/>
            <a:ext cx="3519720" cy="1828080"/>
          </a:xfrm>
          <a:prstGeom prst="roundRect">
            <a:avLst>
              <a:gd name="adj" fmla="val 4000"/>
            </a:avLst>
          </a:prstGeom>
          <a:solidFill>
            <a:srgbClr val="1e26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2"/>
          <p:cNvSpPr/>
          <p:nvPr/>
        </p:nvSpPr>
        <p:spPr>
          <a:xfrm>
            <a:off x="822960" y="1691640"/>
            <a:ext cx="297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2a93b"/>
                </a:solidFill>
                <a:latin typeface="Calibri"/>
                <a:ea typeface="Calibri"/>
              </a:rPr>
              <a:t>Red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7" name="Text 3"/>
          <p:cNvSpPr/>
          <p:nvPr/>
        </p:nvSpPr>
        <p:spPr>
          <a:xfrm>
            <a:off x="822960" y="2148840"/>
            <a:ext cx="29710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9d2dc"/>
                </a:solidFill>
                <a:latin typeface="Calibri"/>
                <a:ea typeface="Calibri"/>
              </a:rPr>
              <a:t>Redes por dominio. Aislamiento entre ambientes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78" name="sec-Identidad"/>
          <p:cNvSpPr/>
          <p:nvPr/>
        </p:nvSpPr>
        <p:spPr>
          <a:xfrm>
            <a:off x="4343400" y="1463040"/>
            <a:ext cx="3519720" cy="1828080"/>
          </a:xfrm>
          <a:prstGeom prst="roundRect">
            <a:avLst>
              <a:gd name="adj" fmla="val 4000"/>
            </a:avLst>
          </a:prstGeom>
          <a:solidFill>
            <a:srgbClr val="1e26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5"/>
          <p:cNvSpPr/>
          <p:nvPr/>
        </p:nvSpPr>
        <p:spPr>
          <a:xfrm>
            <a:off x="4617720" y="1691640"/>
            <a:ext cx="297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2a93b"/>
                </a:solidFill>
                <a:latin typeface="Calibri"/>
                <a:ea typeface="Calibri"/>
              </a:rPr>
              <a:t>Identidad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0" name="Text 6"/>
          <p:cNvSpPr/>
          <p:nvPr/>
        </p:nvSpPr>
        <p:spPr>
          <a:xfrm>
            <a:off x="4617720" y="2148840"/>
            <a:ext cx="29710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9d2dc"/>
                </a:solidFill>
                <a:latin typeface="Calibri"/>
                <a:ea typeface="Calibri"/>
              </a:rPr>
              <a:t>OIDC: PKCE en el navegador, client credentials M2M; JWT validado por ambiente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1" name="sec-Datos"/>
          <p:cNvSpPr/>
          <p:nvPr/>
        </p:nvSpPr>
        <p:spPr>
          <a:xfrm>
            <a:off x="8138160" y="1463040"/>
            <a:ext cx="3519720" cy="1828080"/>
          </a:xfrm>
          <a:prstGeom prst="roundRect">
            <a:avLst>
              <a:gd name="adj" fmla="val 4000"/>
            </a:avLst>
          </a:prstGeom>
          <a:solidFill>
            <a:srgbClr val="1e26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8"/>
          <p:cNvSpPr/>
          <p:nvPr/>
        </p:nvSpPr>
        <p:spPr>
          <a:xfrm>
            <a:off x="8412480" y="1691640"/>
            <a:ext cx="297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2a93b"/>
                </a:solidFill>
                <a:latin typeface="Calibri"/>
                <a:ea typeface="Calibri"/>
              </a:rPr>
              <a:t>Datos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3" name="Text 9"/>
          <p:cNvSpPr/>
          <p:nvPr/>
        </p:nvSpPr>
        <p:spPr>
          <a:xfrm>
            <a:off x="8412480" y="2148840"/>
            <a:ext cx="29710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9d2dc"/>
                </a:solidFill>
                <a:latin typeface="Calibri"/>
                <a:ea typeface="Calibri"/>
              </a:rPr>
              <a:t>un usuario por base y por bucket; la app no guarda actividad de usuarios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4" name="sec-Contenedores"/>
          <p:cNvSpPr/>
          <p:nvPr/>
        </p:nvSpPr>
        <p:spPr>
          <a:xfrm>
            <a:off x="548640" y="3566160"/>
            <a:ext cx="3519720" cy="1828080"/>
          </a:xfrm>
          <a:prstGeom prst="roundRect">
            <a:avLst>
              <a:gd name="adj" fmla="val 4000"/>
            </a:avLst>
          </a:prstGeom>
          <a:solidFill>
            <a:srgbClr val="1e26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11"/>
          <p:cNvSpPr/>
          <p:nvPr/>
        </p:nvSpPr>
        <p:spPr>
          <a:xfrm>
            <a:off x="822960" y="3794760"/>
            <a:ext cx="297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2a93b"/>
                </a:solidFill>
                <a:latin typeface="Calibri"/>
                <a:ea typeface="Calibri"/>
              </a:rPr>
              <a:t>Contenedores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6" name="Text 12"/>
          <p:cNvSpPr/>
          <p:nvPr/>
        </p:nvSpPr>
        <p:spPr>
          <a:xfrm>
            <a:off x="822960" y="4251960"/>
            <a:ext cx="29710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9d2dc"/>
                </a:solidFill>
                <a:latin typeface="Calibri"/>
                <a:ea typeface="Calibri"/>
              </a:rPr>
              <a:t>sin root, read-only, no-new-privileges; parches del SO en cada build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7" name="sec-Cadena de suministro"/>
          <p:cNvSpPr/>
          <p:nvPr/>
        </p:nvSpPr>
        <p:spPr>
          <a:xfrm>
            <a:off x="4343400" y="3566160"/>
            <a:ext cx="3519720" cy="1828080"/>
          </a:xfrm>
          <a:prstGeom prst="roundRect">
            <a:avLst>
              <a:gd name="adj" fmla="val 4000"/>
            </a:avLst>
          </a:prstGeom>
          <a:solidFill>
            <a:srgbClr val="1e26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4"/>
          <p:cNvSpPr/>
          <p:nvPr/>
        </p:nvSpPr>
        <p:spPr>
          <a:xfrm>
            <a:off x="4617720" y="3794760"/>
            <a:ext cx="297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2a93b"/>
                </a:solidFill>
                <a:latin typeface="Calibri"/>
                <a:ea typeface="Calibri"/>
              </a:rPr>
              <a:t>Cadena de suministro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9" name="Text 15"/>
          <p:cNvSpPr/>
          <p:nvPr/>
        </p:nvSpPr>
        <p:spPr>
          <a:xfrm>
            <a:off x="4617720" y="4251960"/>
            <a:ext cx="29710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9d2dc"/>
                </a:solidFill>
                <a:latin typeface="Calibri"/>
                <a:ea typeface="Calibri"/>
              </a:rPr>
              <a:t>digests fijos, tests dentro del build y trivy: app con 0 CRITICAL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0" name="sec-Aplicación"/>
          <p:cNvSpPr/>
          <p:nvPr/>
        </p:nvSpPr>
        <p:spPr>
          <a:xfrm>
            <a:off x="8138160" y="3566160"/>
            <a:ext cx="3519720" cy="1828080"/>
          </a:xfrm>
          <a:prstGeom prst="roundRect">
            <a:avLst>
              <a:gd name="adj" fmla="val 4000"/>
            </a:avLst>
          </a:prstGeom>
          <a:solidFill>
            <a:srgbClr val="1e26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17"/>
          <p:cNvSpPr/>
          <p:nvPr/>
        </p:nvSpPr>
        <p:spPr>
          <a:xfrm>
            <a:off x="8412480" y="3794760"/>
            <a:ext cx="297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2a93b"/>
                </a:solidFill>
                <a:latin typeface="Calibri"/>
                <a:ea typeface="Calibri"/>
              </a:rPr>
              <a:t>Aplicación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2" name="Text 18"/>
          <p:cNvSpPr/>
          <p:nvPr/>
        </p:nvSpPr>
        <p:spPr>
          <a:xfrm>
            <a:off x="8412480" y="4251960"/>
            <a:ext cx="29710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9d2dc"/>
                </a:solidFill>
                <a:latin typeface="Calibri"/>
                <a:ea typeface="Calibri"/>
              </a:rPr>
              <a:t>CSP estricta, rate limit por token, validación con Pydantic, secretos solo en .env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3" name="Text 19"/>
          <p:cNvSpPr/>
          <p:nvPr/>
        </p:nvSpPr>
        <p:spPr>
          <a:xfrm>
            <a:off x="548640" y="5806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8e9aa8"/>
                </a:solidFill>
                <a:latin typeface="Calibri"/>
                <a:ea typeface="Calibri"/>
              </a:rPr>
              <a:t>Riesgos aceptados y documentados: Airflow 2.10 y MLflow 2.19 con CVEs, sin TLS en localhost.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sldNum" idx="15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8e9aa8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5D14DA-CAE8-4075-8481-3CF563818719}" type="slidenum">
              <a:rPr b="0" lang="en-US" sz="1100" spc="-1" strike="noStrike">
                <a:solidFill>
                  <a:srgbClr val="8e9aa8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41a22"/>
                </a:solidFill>
                <a:latin typeface="Arial"/>
                <a:ea typeface="Arial"/>
              </a:rPr>
              <a:t>Gobernanza y separación de roles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296" name="Table 0"/>
          <p:cNvGraphicFramePr/>
          <p:nvPr/>
        </p:nvGraphicFramePr>
        <p:xfrm>
          <a:off x="548640" y="1508760"/>
          <a:ext cx="5120280" cy="226692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246888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eef1f4"/>
                          </a:solidFill>
                          <a:latin typeface="Calibri"/>
                          <a:ea typeface="Calibri"/>
                        </a:rPr>
                        <a:t>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eef1f4"/>
                          </a:solidFill>
                          <a:latin typeface="Calibri"/>
                          <a:ea typeface="Calibri"/>
                        </a:rPr>
                        <a:t>Usuario demo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eef1f4"/>
                          </a:solidFill>
                          <a:latin typeface="Calibri"/>
                          <a:ea typeface="Calibri"/>
                        </a:rPr>
                        <a:t>Puede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141a22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ML engineer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mle_user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todo; único que promueve y revierte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Data scientist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ds_user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descarga, ingesta, entrenamiento y MLflow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e2e7ed"/>
                    </a:solidFill>
                  </a:tcPr>
                </a:tc>
              </a:tr>
              <a:tr h="567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App developer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dev_user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41a22"/>
                          </a:solidFill>
                          <a:latin typeface="Calibri"/>
                          <a:ea typeface="Calibri"/>
                        </a:rPr>
                        <a:t>solo lectura en Airflow; DEV de la app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3dae2"/>
                      </a:solidFill>
                    </a:lnL>
                    <a:lnR w="6480">
                      <a:solidFill>
                        <a:srgbClr val="d3dae2"/>
                      </a:solidFill>
                    </a:lnR>
                    <a:lnT w="6480">
                      <a:solidFill>
                        <a:srgbClr val="d3dae2"/>
                      </a:solidFill>
                    </a:lnT>
                    <a:lnB w="6480">
                      <a:solidFill>
                        <a:srgbClr val="d3dae2"/>
                      </a:solidFill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297" name="Text 1"/>
          <p:cNvSpPr/>
          <p:nvPr/>
        </p:nvSpPr>
        <p:spPr>
          <a:xfrm>
            <a:off x="548640" y="4069080"/>
            <a:ext cx="51199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3d4855"/>
                </a:solidFill>
                <a:latin typeface="Calibri"/>
                <a:ea typeface="Calibri"/>
              </a:rPr>
              <a:t>Roles de Keycloak mapeados a roles de Airflow con permisos por DAG.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3d4855"/>
                </a:solidFill>
                <a:latin typeface="Calibri"/>
                <a:ea typeface="Calibri"/>
              </a:rPr>
              <a:t>Catálogo de datos con responsables, contratos y retención.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3d4855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3d4855"/>
                </a:solidFill>
                <a:latin typeface="Calibri"/>
                <a:ea typeface="Calibri"/>
              </a:rPr>
              <a:t>Minimización de datos: la app no guarda nada de los usuarios.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98" name="dags-frame"/>
          <p:cNvSpPr/>
          <p:nvPr/>
        </p:nvSpPr>
        <p:spPr>
          <a:xfrm>
            <a:off x="5989320" y="1417320"/>
            <a:ext cx="5650200" cy="3656880"/>
          </a:xfrm>
          <a:prstGeom prst="roundRect">
            <a:avLst>
              <a:gd name="adj" fmla="val 2000"/>
            </a:avLst>
          </a:prstGeom>
          <a:solidFill>
            <a:srgbClr val="fbfcfd"/>
          </a:solidFill>
          <a:ln w="12700">
            <a:solidFill>
              <a:srgbClr val="d3da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99" name="Image 0" descr="Lista de DAGs de Airflow"/>
          <p:cNvPicPr/>
          <p:nvPr/>
        </p:nvPicPr>
        <p:blipFill>
          <a:blip r:embed="rId1"/>
          <a:stretch/>
        </p:blipFill>
        <p:spPr>
          <a:xfrm>
            <a:off x="6062400" y="1481400"/>
            <a:ext cx="5504040" cy="3528720"/>
          </a:xfrm>
          <a:prstGeom prst="rect">
            <a:avLst/>
          </a:prstGeom>
          <a:ln w="0">
            <a:noFill/>
          </a:ln>
        </p:spPr>
      </p:pic>
      <p:sp>
        <p:nvSpPr>
          <p:cNvPr id="300" name="Text 3"/>
          <p:cNvSpPr/>
          <p:nvPr/>
        </p:nvSpPr>
        <p:spPr>
          <a:xfrm>
            <a:off x="5989320" y="5212080"/>
            <a:ext cx="5650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a6675"/>
                </a:solidFill>
                <a:latin typeface="Calibri"/>
                <a:ea typeface="Calibri"/>
              </a:rPr>
              <a:t>ds_user dispara datos y entrenamiento pero recibe 403 en promote.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sldNum" idx="16"/>
          </p:nvPr>
        </p:nvSpPr>
        <p:spPr>
          <a:xfrm>
            <a:off x="10728720" y="6400800"/>
            <a:ext cx="9136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5a6675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F867EE-5730-457F-B1DC-85D9AA00729B}" type="slidenum">
              <a:rPr b="0" lang="en-US" sz="1100" spc="-1" strike="noStrike">
                <a:solidFill>
                  <a:srgbClr val="5a6675"/>
                </a:solidFill>
                <a:latin typeface="Calibri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548640" y="411480"/>
            <a:ext cx="110937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eef1f4"/>
                </a:solidFill>
                <a:latin typeface="Arial"/>
                <a:ea typeface="Arial"/>
              </a:rPr>
              <a:t>Evolutivos posibles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48640" y="1508760"/>
            <a:ext cx="1005768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0000"/>
              </a:lnSpc>
              <a:spcAft>
                <a:spcPts val="1400"/>
              </a:spcAft>
              <a:buClr>
                <a:srgbClr val="c9d2dc"/>
              </a:buClr>
              <a:buFont typeface="Symbol"/>
              <a:buChar char=""/>
            </a:pPr>
            <a:r>
              <a:rPr b="0" lang="en-US" sz="2200" spc="-1" strike="noStrike">
                <a:solidFill>
                  <a:srgbClr val="c9d2dc"/>
                </a:solidFill>
                <a:latin typeface="Calibri"/>
                <a:ea typeface="Calibri"/>
              </a:rPr>
              <a:t>Airflow 3 y MLflow 3: cierran los riesgos aceptados de seguridad.</a:t>
            </a:r>
            <a:endParaRPr b="0" lang="en-US" sz="2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400"/>
              </a:spcAft>
              <a:buClr>
                <a:srgbClr val="c9d2dc"/>
              </a:buClr>
              <a:buFont typeface="Symbol"/>
              <a:buChar char=""/>
            </a:pPr>
            <a:r>
              <a:rPr b="0" lang="en-US" sz="2200" spc="-1" strike="noStrike">
                <a:solidFill>
                  <a:srgbClr val="c9d2dc"/>
                </a:solidFill>
                <a:latin typeface="Calibri"/>
                <a:ea typeface="Calibri"/>
              </a:rPr>
              <a:t>Una métrica online de la recomendación para elegir el champion</a:t>
            </a:r>
            <a:endParaRPr b="0" lang="en-US" sz="2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400"/>
              </a:spcAft>
              <a:buClr>
                <a:srgbClr val="c9d2dc"/>
              </a:buClr>
              <a:buFont typeface="Symbol"/>
              <a:buChar char=""/>
            </a:pPr>
            <a:r>
              <a:rPr b="0" lang="en-US" sz="2200" spc="-1" strike="noStrike">
                <a:solidFill>
                  <a:srgbClr val="c9d2dc"/>
                </a:solidFill>
                <a:latin typeface="Calibri"/>
                <a:ea typeface="Calibri"/>
              </a:rPr>
              <a:t>Despliegue en AWS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548640" y="4434840"/>
            <a:ext cx="54856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200" spc="-1" strike="noStrike">
                <a:solidFill>
                  <a:srgbClr val="f2a93b"/>
                </a:solidFill>
                <a:latin typeface="Arial"/>
                <a:ea typeface="Arial"/>
              </a:rPr>
              <a:t>Gracias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6035040" y="4892040"/>
            <a:ext cx="5577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e9aa8"/>
                </a:solidFill>
                <a:latin typeface="Calibri"/>
                <a:ea typeface="Calibri"/>
              </a:rPr>
              <a:t>github.com/matias1405/mlops2 · tp-final/</a:t>
            </a:r>
            <a:endParaRPr b="0" lang="en-US" sz="1400" spc="-1" strike="noStrike">
              <a:latin typeface="Arial"/>
            </a:endParaRPr>
          </a:p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e9aa8"/>
                </a:solidFill>
                <a:latin typeface="Calibri"/>
                <a:ea typeface="Calibri"/>
              </a:rPr>
              <a:t>Datos e imágenes de TMDB; no avalado por TMDB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6" name="Shape 4"/>
          <p:cNvSpPr/>
          <p:nvPr/>
        </p:nvSpPr>
        <p:spPr>
          <a:xfrm>
            <a:off x="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Shape 5"/>
          <p:cNvSpPr/>
          <p:nvPr/>
        </p:nvSpPr>
        <p:spPr>
          <a:xfrm>
            <a:off x="41148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Shape 6"/>
          <p:cNvSpPr/>
          <p:nvPr/>
        </p:nvSpPr>
        <p:spPr>
          <a:xfrm>
            <a:off x="82296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Shape 7"/>
          <p:cNvSpPr/>
          <p:nvPr/>
        </p:nvSpPr>
        <p:spPr>
          <a:xfrm>
            <a:off x="123444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8"/>
          <p:cNvSpPr/>
          <p:nvPr/>
        </p:nvSpPr>
        <p:spPr>
          <a:xfrm>
            <a:off x="164592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Shape 9"/>
          <p:cNvSpPr/>
          <p:nvPr/>
        </p:nvSpPr>
        <p:spPr>
          <a:xfrm>
            <a:off x="205740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Shape 10"/>
          <p:cNvSpPr/>
          <p:nvPr/>
        </p:nvSpPr>
        <p:spPr>
          <a:xfrm>
            <a:off x="246888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11"/>
          <p:cNvSpPr/>
          <p:nvPr/>
        </p:nvSpPr>
        <p:spPr>
          <a:xfrm>
            <a:off x="288036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Shape 12"/>
          <p:cNvSpPr/>
          <p:nvPr/>
        </p:nvSpPr>
        <p:spPr>
          <a:xfrm>
            <a:off x="329184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Shape 13"/>
          <p:cNvSpPr/>
          <p:nvPr/>
        </p:nvSpPr>
        <p:spPr>
          <a:xfrm>
            <a:off x="370332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Shape 14"/>
          <p:cNvSpPr/>
          <p:nvPr/>
        </p:nvSpPr>
        <p:spPr>
          <a:xfrm>
            <a:off x="411480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15"/>
          <p:cNvSpPr/>
          <p:nvPr/>
        </p:nvSpPr>
        <p:spPr>
          <a:xfrm>
            <a:off x="452628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Shape 16"/>
          <p:cNvSpPr/>
          <p:nvPr/>
        </p:nvSpPr>
        <p:spPr>
          <a:xfrm>
            <a:off x="493776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Shape 17"/>
          <p:cNvSpPr/>
          <p:nvPr/>
        </p:nvSpPr>
        <p:spPr>
          <a:xfrm>
            <a:off x="534924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18"/>
          <p:cNvSpPr/>
          <p:nvPr/>
        </p:nvSpPr>
        <p:spPr>
          <a:xfrm>
            <a:off x="576072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Shape 19"/>
          <p:cNvSpPr/>
          <p:nvPr/>
        </p:nvSpPr>
        <p:spPr>
          <a:xfrm>
            <a:off x="617220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20"/>
          <p:cNvSpPr/>
          <p:nvPr/>
        </p:nvSpPr>
        <p:spPr>
          <a:xfrm>
            <a:off x="658368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Shape 21"/>
          <p:cNvSpPr/>
          <p:nvPr/>
        </p:nvSpPr>
        <p:spPr>
          <a:xfrm>
            <a:off x="699516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Shape 22"/>
          <p:cNvSpPr/>
          <p:nvPr/>
        </p:nvSpPr>
        <p:spPr>
          <a:xfrm>
            <a:off x="740664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Shape 23"/>
          <p:cNvSpPr/>
          <p:nvPr/>
        </p:nvSpPr>
        <p:spPr>
          <a:xfrm>
            <a:off x="781812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Shape 24"/>
          <p:cNvSpPr/>
          <p:nvPr/>
        </p:nvSpPr>
        <p:spPr>
          <a:xfrm>
            <a:off x="822960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Shape 25"/>
          <p:cNvSpPr/>
          <p:nvPr/>
        </p:nvSpPr>
        <p:spPr>
          <a:xfrm>
            <a:off x="864108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Shape 26"/>
          <p:cNvSpPr/>
          <p:nvPr/>
        </p:nvSpPr>
        <p:spPr>
          <a:xfrm>
            <a:off x="905256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27"/>
          <p:cNvSpPr/>
          <p:nvPr/>
        </p:nvSpPr>
        <p:spPr>
          <a:xfrm>
            <a:off x="946404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28"/>
          <p:cNvSpPr/>
          <p:nvPr/>
        </p:nvSpPr>
        <p:spPr>
          <a:xfrm>
            <a:off x="987552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Shape 29"/>
          <p:cNvSpPr/>
          <p:nvPr/>
        </p:nvSpPr>
        <p:spPr>
          <a:xfrm>
            <a:off x="1028700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Shape 30"/>
          <p:cNvSpPr/>
          <p:nvPr/>
        </p:nvSpPr>
        <p:spPr>
          <a:xfrm>
            <a:off x="1069848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Shape 31"/>
          <p:cNvSpPr/>
          <p:nvPr/>
        </p:nvSpPr>
        <p:spPr>
          <a:xfrm>
            <a:off x="1110996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Shape 32"/>
          <p:cNvSpPr/>
          <p:nvPr/>
        </p:nvSpPr>
        <p:spPr>
          <a:xfrm>
            <a:off x="1152144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Shape 33"/>
          <p:cNvSpPr/>
          <p:nvPr/>
        </p:nvSpPr>
        <p:spPr>
          <a:xfrm>
            <a:off x="11932920" y="6519600"/>
            <a:ext cx="255240" cy="154800"/>
          </a:xfrm>
          <a:prstGeom prst="rect">
            <a:avLst/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d4855"/>
      </a:dk2>
      <a:lt2>
        <a:srgbClr val="eef1f4"/>
      </a:lt2>
      <a:accent1>
        <a:srgbClr val="f2a93b"/>
      </a:accent1>
      <a:accent2>
        <a:srgbClr val="b36a00"/>
      </a:accent2>
      <a:accent3>
        <a:srgbClr val="4c7fbf"/>
      </a:accent3>
      <a:accent4>
        <a:srgbClr val="7d8a99"/>
      </a:accent4>
      <a:accent5>
        <a:srgbClr val="6fa8e8"/>
      </a:accent5>
      <a:accent6>
        <a:srgbClr val="9c6b3c"/>
      </a:accent6>
      <a:hlink>
        <a:srgbClr val="2f5f99"/>
      </a:hlink>
      <a:folHlink>
        <a:srgbClr val="5a667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d4855"/>
      </a:dk2>
      <a:lt2>
        <a:srgbClr val="eef1f4"/>
      </a:lt2>
      <a:accent1>
        <a:srgbClr val="f2a93b"/>
      </a:accent1>
      <a:accent2>
        <a:srgbClr val="b36a00"/>
      </a:accent2>
      <a:accent3>
        <a:srgbClr val="4c7fbf"/>
      </a:accent3>
      <a:accent4>
        <a:srgbClr val="7d8a99"/>
      </a:accent4>
      <a:accent5>
        <a:srgbClr val="6fa8e8"/>
      </a:accent5>
      <a:accent6>
        <a:srgbClr val="9c6b3c"/>
      </a:accent6>
      <a:hlink>
        <a:srgbClr val="2f5f99"/>
      </a:hlink>
      <a:folHlink>
        <a:srgbClr val="5a667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d4855"/>
      </a:dk2>
      <a:lt2>
        <a:srgbClr val="eef1f4"/>
      </a:lt2>
      <a:accent1>
        <a:srgbClr val="f2a93b"/>
      </a:accent1>
      <a:accent2>
        <a:srgbClr val="b36a00"/>
      </a:accent2>
      <a:accent3>
        <a:srgbClr val="4c7fbf"/>
      </a:accent3>
      <a:accent4>
        <a:srgbClr val="7d8a99"/>
      </a:accent4>
      <a:accent5>
        <a:srgbClr val="6fa8e8"/>
      </a:accent5>
      <a:accent6>
        <a:srgbClr val="9c6b3c"/>
      </a:accent6>
      <a:hlink>
        <a:srgbClr val="2f5f99"/>
      </a:hlink>
      <a:folHlink>
        <a:srgbClr val="5a667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d4855"/>
      </a:dk2>
      <a:lt2>
        <a:srgbClr val="eef1f4"/>
      </a:lt2>
      <a:accent1>
        <a:srgbClr val="f2a93b"/>
      </a:accent1>
      <a:accent2>
        <a:srgbClr val="b36a00"/>
      </a:accent2>
      <a:accent3>
        <a:srgbClr val="4c7fbf"/>
      </a:accent3>
      <a:accent4>
        <a:srgbClr val="7d8a99"/>
      </a:accent4>
      <a:accent5>
        <a:srgbClr val="6fa8e8"/>
      </a:accent5>
      <a:accent6>
        <a:srgbClr val="9c6b3c"/>
      </a:accent6>
      <a:hlink>
        <a:srgbClr val="2f5f99"/>
      </a:hlink>
      <a:folHlink>
        <a:srgbClr val="5a667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2026-10-15T23:44:07Z</dcterms:created>
  <dc:creator>TP final MLOps II</dc:creator>
  <dc:description/>
  <dc:language>en-US</dc:language>
  <cp:lastModifiedBy/>
  <dcterms:modified xsi:type="dcterms:W3CDTF">2026-10-17T20:19:40Z</dcterms:modified>
  <cp:revision>6</cp:revision>
  <dc:subject>PptxGenJS Presentation</dc:subject>
  <dc:title>movierec — TP final MLOps II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